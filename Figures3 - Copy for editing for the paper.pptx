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74" r:id="rId2"/>
    <p:sldId id="257" r:id="rId3"/>
    <p:sldId id="270" r:id="rId4"/>
    <p:sldId id="273" r:id="rId5"/>
    <p:sldId id="278" r:id="rId6"/>
    <p:sldId id="265" r:id="rId7"/>
    <p:sldId id="266" r:id="rId8"/>
    <p:sldId id="261" r:id="rId9"/>
    <p:sldId id="277" r:id="rId10"/>
    <p:sldId id="262" r:id="rId11"/>
  </p:sldIdLst>
  <p:sldSz cx="1828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34" autoAdjust="0"/>
    <p:restoredTop sz="94660"/>
  </p:normalViewPr>
  <p:slideViewPr>
    <p:cSldViewPr snapToGrid="0">
      <p:cViewPr varScale="1">
        <p:scale>
          <a:sx n="52" d="100"/>
          <a:sy n="52" d="100"/>
        </p:scale>
        <p:origin x="21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36FA1A-EBA2-4406-90A4-2C427B932B9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521EFD-079E-4F48-9A0D-D3CA48E4F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988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1pPr>
    <a:lvl2pPr marL="877535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2pPr>
    <a:lvl3pPr marL="175507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3pPr>
    <a:lvl4pPr marL="2632607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4pPr>
    <a:lvl5pPr marL="351014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5pPr>
    <a:lvl6pPr marL="4387677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6pPr>
    <a:lvl7pPr marL="526521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7pPr>
    <a:lvl8pPr marL="6142748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8pPr>
    <a:lvl9pPr marL="7020283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From mouse X:\root\processed\2023_06_30_C57BL6_5\2023_06_30_13_08_30\stage_5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236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403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6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88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386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3419479"/>
            <a:ext cx="157734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9178929"/>
            <a:ext cx="157734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955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880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64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80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887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969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3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03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ED2174-11EF-43AA-A635-42A92FC4881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2712703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39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7" Type="http://schemas.openxmlformats.org/officeDocument/2006/relationships/image" Target="../media/image12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15.emf"/><Relationship Id="rId7" Type="http://schemas.openxmlformats.org/officeDocument/2006/relationships/image" Target="../media/image1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emf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emf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emf"/><Relationship Id="rId3" Type="http://schemas.openxmlformats.org/officeDocument/2006/relationships/image" Target="../media/image36.emf"/><Relationship Id="rId7" Type="http://schemas.openxmlformats.org/officeDocument/2006/relationships/image" Target="../media/image40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emf"/><Relationship Id="rId11" Type="http://schemas.openxmlformats.org/officeDocument/2006/relationships/image" Target="../media/image44.emf"/><Relationship Id="rId5" Type="http://schemas.openxmlformats.org/officeDocument/2006/relationships/image" Target="../media/image38.emf"/><Relationship Id="rId10" Type="http://schemas.openxmlformats.org/officeDocument/2006/relationships/image" Target="../media/image43.emf"/><Relationship Id="rId4" Type="http://schemas.openxmlformats.org/officeDocument/2006/relationships/image" Target="../media/image37.emf"/><Relationship Id="rId9" Type="http://schemas.openxmlformats.org/officeDocument/2006/relationships/image" Target="../media/image4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156667" y="1225432"/>
            <a:ext cx="3808799" cy="3809999"/>
          </a:xfrm>
          <a:prstGeom prst="rect">
            <a:avLst/>
          </a:prstGeom>
        </p:spPr>
      </p:pic>
      <p:pic>
        <p:nvPicPr>
          <p:cNvPr id="7" name="Picture 6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156667" y="5249522"/>
            <a:ext cx="3808799" cy="3809999"/>
          </a:xfrm>
          <a:prstGeom prst="rect">
            <a:avLst/>
          </a:prstGeom>
        </p:spPr>
      </p:pic>
      <p:pic>
        <p:nvPicPr>
          <p:cNvPr id="8" name="Picture 7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5156667" y="9273607"/>
            <a:ext cx="3808799" cy="3809999"/>
          </a:xfrm>
          <a:prstGeom prst="rect">
            <a:avLst/>
          </a:prstGeom>
        </p:spPr>
      </p:pic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9179553" y="5249522"/>
            <a:ext cx="3808799" cy="3809999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9179553" y="1225431"/>
            <a:ext cx="3808799" cy="3809999"/>
          </a:xfrm>
          <a:prstGeom prst="rect">
            <a:avLst/>
          </a:prstGeom>
        </p:spPr>
      </p:pic>
      <p:pic>
        <p:nvPicPr>
          <p:cNvPr id="11" name="Picture 10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9179553" y="9273607"/>
            <a:ext cx="3808799" cy="380999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09377" y="-2833840"/>
            <a:ext cx="2903359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Before 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866797" y="-2833840"/>
            <a:ext cx="2603598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After 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 rot="16200000">
            <a:off x="4295081" y="2868753"/>
            <a:ext cx="901209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SVP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 rot="16200000">
            <a:off x="4354393" y="6892838"/>
            <a:ext cx="78258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ICP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 rot="16200000">
            <a:off x="4274237" y="10916927"/>
            <a:ext cx="94288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DCP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3F42A4-80B2-C90B-EC72-9DC6CA58029B}"/>
              </a:ext>
            </a:extLst>
          </p:cNvPr>
          <p:cNvSpPr txBox="1"/>
          <p:nvPr/>
        </p:nvSpPr>
        <p:spPr>
          <a:xfrm>
            <a:off x="5879491" y="571881"/>
            <a:ext cx="236314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Pre-Contrast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F399A-B132-90F6-3BBC-FA8AE896CED7}"/>
              </a:ext>
            </a:extLst>
          </p:cNvPr>
          <p:cNvSpPr txBox="1"/>
          <p:nvPr/>
        </p:nvSpPr>
        <p:spPr>
          <a:xfrm>
            <a:off x="9802186" y="571881"/>
            <a:ext cx="2563522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Post-Contrast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1092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 l="13007" t="7195" r="9543" b="11615"/>
          <a:stretch>
            <a:fillRect/>
          </a:stretch>
        </p:blipFill>
        <p:spPr>
          <a:xfrm>
            <a:off x="12377158" y="3495565"/>
            <a:ext cx="4318191" cy="339864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 l="13007" t="7545" r="9543" b="11028"/>
          <a:stretch>
            <a:fillRect/>
          </a:stretch>
        </p:blipFill>
        <p:spPr>
          <a:xfrm>
            <a:off x="7692945" y="3495563"/>
            <a:ext cx="4318191" cy="34085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698340" y="4449720"/>
            <a:ext cx="1783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Pre-Contrast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 rot="16200000">
            <a:off x="616524" y="6943435"/>
            <a:ext cx="1947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</a:rPr>
              <a:t>Peak Contrast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 rot="16200000">
            <a:off x="635092" y="9444978"/>
            <a:ext cx="1910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Post-Contrast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4951" y="-644693"/>
            <a:ext cx="40522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Maximum Intensity Projection</a:t>
            </a:r>
            <a:endParaRPr lang="en-US" sz="2400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13582157" y="3041868"/>
            <a:ext cx="1720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Binarisation</a:t>
            </a:r>
            <a:endParaRPr lang="en-US" sz="2400" b="1" dirty="0"/>
          </a:p>
        </p:txBody>
      </p:sp>
      <p:sp>
        <p:nvSpPr>
          <p:cNvPr id="19" name="Rectangle 18"/>
          <p:cNvSpPr/>
          <p:nvPr/>
        </p:nvSpPr>
        <p:spPr>
          <a:xfrm>
            <a:off x="7692945" y="3500050"/>
            <a:ext cx="4318191" cy="36285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0" name="Rectangle 19"/>
          <p:cNvSpPr/>
          <p:nvPr/>
        </p:nvSpPr>
        <p:spPr>
          <a:xfrm>
            <a:off x="7692945" y="3923475"/>
            <a:ext cx="4318191" cy="36285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1" name="Rectangle 20"/>
          <p:cNvSpPr/>
          <p:nvPr/>
        </p:nvSpPr>
        <p:spPr>
          <a:xfrm>
            <a:off x="7693202" y="4733767"/>
            <a:ext cx="4318191" cy="21748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2" name="Rectangle 21"/>
          <p:cNvSpPr/>
          <p:nvPr/>
        </p:nvSpPr>
        <p:spPr>
          <a:xfrm>
            <a:off x="12377157" y="3495567"/>
            <a:ext cx="4318191" cy="36285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3" name="Rectangle 22"/>
          <p:cNvSpPr/>
          <p:nvPr/>
        </p:nvSpPr>
        <p:spPr>
          <a:xfrm>
            <a:off x="12377414" y="3918993"/>
            <a:ext cx="4318191" cy="36285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4" name="Rectangle 23"/>
          <p:cNvSpPr/>
          <p:nvPr/>
        </p:nvSpPr>
        <p:spPr>
          <a:xfrm>
            <a:off x="12377157" y="4729284"/>
            <a:ext cx="4318191" cy="21748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364A5D5-130B-194C-D419-88262E1FEF32}"/>
              </a:ext>
            </a:extLst>
          </p:cNvPr>
          <p:cNvGrpSpPr>
            <a:grpSpLocks noChangeAspect="1"/>
          </p:cNvGrpSpPr>
          <p:nvPr/>
        </p:nvGrpSpPr>
        <p:grpSpPr>
          <a:xfrm>
            <a:off x="1838941" y="3495568"/>
            <a:ext cx="5444084" cy="2369967"/>
            <a:chOff x="12914389" y="10856209"/>
            <a:chExt cx="4318190" cy="1865332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rcRect l="12956" t="25542" r="9593" b="29898"/>
            <a:stretch>
              <a:fillRect/>
            </a:stretch>
          </p:blipFill>
          <p:spPr>
            <a:xfrm>
              <a:off x="12914389" y="10856209"/>
              <a:ext cx="4318190" cy="1865332"/>
            </a:xfrm>
            <a:prstGeom prst="rect">
              <a:avLst/>
            </a:prstGeom>
          </p:spPr>
        </p:pic>
        <p:cxnSp>
          <p:nvCxnSpPr>
            <p:cNvPr id="10" name="Straight Connector 9"/>
            <p:cNvCxnSpPr/>
            <p:nvPr/>
          </p:nvCxnSpPr>
          <p:spPr>
            <a:xfrm>
              <a:off x="16661586" y="12571939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/>
            <p:cNvSpPr/>
            <p:nvPr/>
          </p:nvSpPr>
          <p:spPr>
            <a:xfrm>
              <a:off x="12914389" y="10856209"/>
              <a:ext cx="4318190" cy="443623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4D90E3E-90D0-F72E-870E-270C800DD354}"/>
              </a:ext>
            </a:extLst>
          </p:cNvPr>
          <p:cNvGrpSpPr>
            <a:grpSpLocks noChangeAspect="1"/>
          </p:cNvGrpSpPr>
          <p:nvPr/>
        </p:nvGrpSpPr>
        <p:grpSpPr>
          <a:xfrm>
            <a:off x="1817779" y="5986419"/>
            <a:ext cx="5486400" cy="2375691"/>
            <a:chOff x="12914389" y="13158089"/>
            <a:chExt cx="4336242" cy="1877655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5"/>
            <a:srcRect l="12956" t="25541" r="9270" b="29603"/>
            <a:stretch>
              <a:fillRect/>
            </a:stretch>
          </p:blipFill>
          <p:spPr>
            <a:xfrm>
              <a:off x="12914389" y="13158089"/>
              <a:ext cx="4336242" cy="1877655"/>
            </a:xfrm>
            <a:prstGeom prst="rect">
              <a:avLst/>
            </a:prstGeom>
          </p:spPr>
        </p:pic>
        <p:cxnSp>
          <p:nvCxnSpPr>
            <p:cNvPr id="11" name="Straight Connector 10"/>
            <p:cNvCxnSpPr/>
            <p:nvPr/>
          </p:nvCxnSpPr>
          <p:spPr>
            <a:xfrm>
              <a:off x="16661586" y="14883341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2914389" y="13158090"/>
              <a:ext cx="4318190" cy="443623"/>
            </a:xfrm>
            <a:prstGeom prst="rect">
              <a:avLst/>
            </a:prstGeom>
            <a:noFill/>
            <a:ln w="28575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80DF26A-D136-57D1-BDFF-F02CC689376F}"/>
              </a:ext>
            </a:extLst>
          </p:cNvPr>
          <p:cNvGrpSpPr>
            <a:grpSpLocks noChangeAspect="1"/>
          </p:cNvGrpSpPr>
          <p:nvPr/>
        </p:nvGrpSpPr>
        <p:grpSpPr>
          <a:xfrm>
            <a:off x="1817779" y="8482997"/>
            <a:ext cx="5486400" cy="2385620"/>
            <a:chOff x="12914385" y="15408047"/>
            <a:chExt cx="4318194" cy="1877655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6"/>
            <a:srcRect l="12956" t="25819" r="9593" b="29325"/>
            <a:stretch>
              <a:fillRect/>
            </a:stretch>
          </p:blipFill>
          <p:spPr>
            <a:xfrm>
              <a:off x="12914385" y="15408047"/>
              <a:ext cx="4318193" cy="1877655"/>
            </a:xfrm>
            <a:prstGeom prst="rect">
              <a:avLst/>
            </a:prstGeom>
          </p:spPr>
        </p:pic>
        <p:cxnSp>
          <p:nvCxnSpPr>
            <p:cNvPr id="12" name="Straight Connector 11"/>
            <p:cNvCxnSpPr/>
            <p:nvPr/>
          </p:nvCxnSpPr>
          <p:spPr>
            <a:xfrm>
              <a:off x="16661586" y="17146481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12914389" y="15408047"/>
              <a:ext cx="4318190" cy="4436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cxnSp>
        <p:nvCxnSpPr>
          <p:cNvPr id="30" name="Straight Arrow Connector 29"/>
          <p:cNvCxnSpPr/>
          <p:nvPr/>
        </p:nvCxnSpPr>
        <p:spPr>
          <a:xfrm>
            <a:off x="7538221" y="3513788"/>
            <a:ext cx="0" cy="33986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16200000">
            <a:off x="7155881" y="5013077"/>
            <a:ext cx="712054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2000" b="1" dirty="0"/>
              <a:t>Time</a:t>
            </a:r>
            <a:endParaRPr lang="en-US" sz="2000" b="1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12222433" y="3503525"/>
            <a:ext cx="0" cy="33986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 rot="16200000">
            <a:off x="11840093" y="5002814"/>
            <a:ext cx="712054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2000" b="1" dirty="0"/>
              <a:t>Time</a:t>
            </a:r>
            <a:endParaRPr lang="en-US" sz="2000" b="1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6148093" y="6736604"/>
            <a:ext cx="43200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11463887" y="6735060"/>
            <a:ext cx="43200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F36C618-48D6-8D6D-6096-0255EBD3DCAF}"/>
              </a:ext>
            </a:extLst>
          </p:cNvPr>
          <p:cNvSpPr txBox="1"/>
          <p:nvPr/>
        </p:nvSpPr>
        <p:spPr>
          <a:xfrm>
            <a:off x="7274952" y="-780167"/>
            <a:ext cx="7594600" cy="708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1" b="1" dirty="0"/>
              <a:t>B</a:t>
            </a:r>
            <a:endParaRPr lang="LID4096" sz="4001" dirty="0"/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5525" y="7046487"/>
            <a:ext cx="5115295" cy="384048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10966378" y="7477375"/>
            <a:ext cx="495879" cy="287126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40" name="Rectangle 39"/>
          <p:cNvSpPr/>
          <p:nvPr/>
        </p:nvSpPr>
        <p:spPr>
          <a:xfrm>
            <a:off x="10334164" y="7477375"/>
            <a:ext cx="546740" cy="287126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41" name="Rectangle 40"/>
          <p:cNvSpPr/>
          <p:nvPr/>
        </p:nvSpPr>
        <p:spPr>
          <a:xfrm>
            <a:off x="11938110" y="7477375"/>
            <a:ext cx="2353871" cy="28712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5EA833-3240-C91A-254C-79376534F77D}"/>
              </a:ext>
            </a:extLst>
          </p:cNvPr>
          <p:cNvSpPr txBox="1"/>
          <p:nvPr/>
        </p:nvSpPr>
        <p:spPr>
          <a:xfrm>
            <a:off x="7843680" y="3053120"/>
            <a:ext cx="40522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Maximum Intensity Projection</a:t>
            </a:r>
            <a:endParaRPr lang="en-US" sz="24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2007CE-A58C-A8E2-703F-2368C931578D}"/>
              </a:ext>
            </a:extLst>
          </p:cNvPr>
          <p:cNvSpPr txBox="1"/>
          <p:nvPr/>
        </p:nvSpPr>
        <p:spPr>
          <a:xfrm>
            <a:off x="4074662" y="3053120"/>
            <a:ext cx="872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OCTA</a:t>
            </a:r>
            <a:endParaRPr lang="en-US" sz="24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9D0D88-F126-CB83-D7C6-FA4DADD0448B}"/>
              </a:ext>
            </a:extLst>
          </p:cNvPr>
          <p:cNvSpPr txBox="1"/>
          <p:nvPr/>
        </p:nvSpPr>
        <p:spPr>
          <a:xfrm>
            <a:off x="1801075" y="5475400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AB5CFF-B045-CEE8-0567-422AFDB242F2}"/>
              </a:ext>
            </a:extLst>
          </p:cNvPr>
          <p:cNvSpPr txBox="1"/>
          <p:nvPr/>
        </p:nvSpPr>
        <p:spPr>
          <a:xfrm>
            <a:off x="1801075" y="7969224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DAC1EB7-3E56-081B-A2B2-23BEDCA58739}"/>
              </a:ext>
            </a:extLst>
          </p:cNvPr>
          <p:cNvSpPr txBox="1"/>
          <p:nvPr/>
        </p:nvSpPr>
        <p:spPr>
          <a:xfrm>
            <a:off x="1801075" y="1049167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3498C4B-FD99-8D29-C207-F8266A3600C9}"/>
              </a:ext>
            </a:extLst>
          </p:cNvPr>
          <p:cNvSpPr txBox="1"/>
          <p:nvPr/>
        </p:nvSpPr>
        <p:spPr>
          <a:xfrm>
            <a:off x="7571362" y="6539489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6D0570-1564-06E9-F247-F2C0CE09DBB6}"/>
              </a:ext>
            </a:extLst>
          </p:cNvPr>
          <p:cNvSpPr txBox="1"/>
          <p:nvPr/>
        </p:nvSpPr>
        <p:spPr>
          <a:xfrm>
            <a:off x="12255574" y="6528832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1DD1299A-F439-AB4A-8764-07CA95D55BEC}"/>
              </a:ext>
            </a:extLst>
          </p:cNvPr>
          <p:cNvSpPr txBox="1"/>
          <p:nvPr/>
        </p:nvSpPr>
        <p:spPr>
          <a:xfrm>
            <a:off x="10313905" y="997259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51" name="Straight Arrow Connector 1050">
            <a:extLst>
              <a:ext uri="{FF2B5EF4-FFF2-40B4-BE49-F238E27FC236}">
                <a16:creationId xmlns:a16="http://schemas.microsoft.com/office/drawing/2014/main" id="{8B0F1857-6F68-BFEF-4511-6836B180925E}"/>
              </a:ext>
            </a:extLst>
          </p:cNvPr>
          <p:cNvCxnSpPr>
            <a:cxnSpLocks/>
          </p:cNvCxnSpPr>
          <p:nvPr/>
        </p:nvCxnSpPr>
        <p:spPr>
          <a:xfrm>
            <a:off x="9865172" y="10362287"/>
            <a:ext cx="295059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2" name="TextBox 1051">
            <a:extLst>
              <a:ext uri="{FF2B5EF4-FFF2-40B4-BE49-F238E27FC236}">
                <a16:creationId xmlns:a16="http://schemas.microsoft.com/office/drawing/2014/main" id="{D08BB484-4625-6B81-0418-27568EC536B7}"/>
              </a:ext>
            </a:extLst>
          </p:cNvPr>
          <p:cNvSpPr txBox="1"/>
          <p:nvPr/>
        </p:nvSpPr>
        <p:spPr>
          <a:xfrm>
            <a:off x="9234339" y="10163978"/>
            <a:ext cx="610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643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853" y="4547290"/>
            <a:ext cx="5575503" cy="4186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4509" y="4547290"/>
            <a:ext cx="5575503" cy="418600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61BD1D2-A77B-3EEA-6F89-E87FC2343488}"/>
              </a:ext>
            </a:extLst>
          </p:cNvPr>
          <p:cNvCxnSpPr/>
          <p:nvPr/>
        </p:nvCxnSpPr>
        <p:spPr>
          <a:xfrm>
            <a:off x="5841243" y="8562267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BECB44B-9338-0DA9-3B1F-FB47C96DB980}"/>
              </a:ext>
            </a:extLst>
          </p:cNvPr>
          <p:cNvSpPr txBox="1"/>
          <p:nvPr/>
        </p:nvSpPr>
        <p:spPr>
          <a:xfrm>
            <a:off x="4776721" y="8363957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Stretched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CD8DA-7D6C-08FD-3AB9-4A6985C05700}"/>
              </a:ext>
            </a:extLst>
          </p:cNvPr>
          <p:cNvSpPr txBox="1"/>
          <p:nvPr/>
        </p:nvSpPr>
        <p:spPr>
          <a:xfrm>
            <a:off x="12658301" y="5538265"/>
            <a:ext cx="1719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 err="1">
                <a:solidFill>
                  <a:srgbClr val="EE0000"/>
                </a:solidFill>
              </a:rPr>
              <a:t>Generali’s’ed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B6F414-5319-C02F-D59F-785904693D75}"/>
              </a:ext>
            </a:extLst>
          </p:cNvPr>
          <p:cNvCxnSpPr/>
          <p:nvPr/>
        </p:nvCxnSpPr>
        <p:spPr>
          <a:xfrm>
            <a:off x="3837298" y="6686983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AAEC28-823F-0E64-F439-246BF0D48939}"/>
              </a:ext>
            </a:extLst>
          </p:cNvPr>
          <p:cNvSpPr txBox="1"/>
          <p:nvPr/>
        </p:nvSpPr>
        <p:spPr>
          <a:xfrm>
            <a:off x="2772774" y="6488673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Stretched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820959-AF5C-8205-53C7-77BD9CB9A40D}"/>
              </a:ext>
            </a:extLst>
          </p:cNvPr>
          <p:cNvCxnSpPr/>
          <p:nvPr/>
        </p:nvCxnSpPr>
        <p:spPr>
          <a:xfrm>
            <a:off x="4152205" y="7498172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4FCCFC2-049C-0CBB-8618-4D1E39B362F2}"/>
              </a:ext>
            </a:extLst>
          </p:cNvPr>
          <p:cNvSpPr txBox="1"/>
          <p:nvPr/>
        </p:nvSpPr>
        <p:spPr>
          <a:xfrm>
            <a:off x="3087682" y="7299863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F21F79-2EFC-3B78-B921-753B2D9716B2}"/>
              </a:ext>
            </a:extLst>
          </p:cNvPr>
          <p:cNvCxnSpPr>
            <a:cxnSpLocks/>
          </p:cNvCxnSpPr>
          <p:nvPr/>
        </p:nvCxnSpPr>
        <p:spPr>
          <a:xfrm flipV="1">
            <a:off x="8521757" y="5820774"/>
            <a:ext cx="0" cy="333107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02BCEAF-8572-3B80-5DC5-D41D53C6F8E6}"/>
              </a:ext>
            </a:extLst>
          </p:cNvPr>
          <p:cNvSpPr txBox="1"/>
          <p:nvPr/>
        </p:nvSpPr>
        <p:spPr>
          <a:xfrm>
            <a:off x="7962210" y="6092045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F7EA0E-5753-D4EB-9633-5F96E11C06B6}"/>
              </a:ext>
            </a:extLst>
          </p:cNvPr>
          <p:cNvCxnSpPr/>
          <p:nvPr/>
        </p:nvCxnSpPr>
        <p:spPr>
          <a:xfrm>
            <a:off x="4342769" y="8295711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26F21C-9EBD-158E-2C8D-F1AD9154588E}"/>
              </a:ext>
            </a:extLst>
          </p:cNvPr>
          <p:cNvSpPr txBox="1"/>
          <p:nvPr/>
        </p:nvSpPr>
        <p:spPr>
          <a:xfrm>
            <a:off x="3278246" y="8097401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795EBD-AEA8-48D7-4F04-4CCDC603A626}"/>
              </a:ext>
            </a:extLst>
          </p:cNvPr>
          <p:cNvSpPr txBox="1"/>
          <p:nvPr/>
        </p:nvSpPr>
        <p:spPr>
          <a:xfrm>
            <a:off x="5331727" y="4364897"/>
            <a:ext cx="1719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 err="1">
                <a:solidFill>
                  <a:srgbClr val="EE0000"/>
                </a:solidFill>
              </a:rPr>
              <a:t>Generali’s’ed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D8CAA1-6F2B-41AD-081B-8D1968051A5B}"/>
              </a:ext>
            </a:extLst>
          </p:cNvPr>
          <p:cNvSpPr txBox="1"/>
          <p:nvPr/>
        </p:nvSpPr>
        <p:spPr>
          <a:xfrm>
            <a:off x="4774345" y="496133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0062D3-02B3-E874-36F3-5288CF63ED7A}"/>
              </a:ext>
            </a:extLst>
          </p:cNvPr>
          <p:cNvSpPr txBox="1"/>
          <p:nvPr/>
        </p:nvSpPr>
        <p:spPr>
          <a:xfrm>
            <a:off x="10378959" y="4841015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2B91CC3-CD8E-90E9-BF21-77C08DEA9C33}"/>
              </a:ext>
            </a:extLst>
          </p:cNvPr>
          <p:cNvCxnSpPr>
            <a:cxnSpLocks/>
          </p:cNvCxnSpPr>
          <p:nvPr/>
        </p:nvCxnSpPr>
        <p:spPr>
          <a:xfrm>
            <a:off x="4766247" y="4995260"/>
            <a:ext cx="1152144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3C3F671-44D1-8C59-F5FD-9202811B3C6C}"/>
              </a:ext>
            </a:extLst>
          </p:cNvPr>
          <p:cNvCxnSpPr>
            <a:cxnSpLocks/>
          </p:cNvCxnSpPr>
          <p:nvPr/>
        </p:nvCxnSpPr>
        <p:spPr>
          <a:xfrm>
            <a:off x="4766247" y="8130951"/>
            <a:ext cx="1152144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80F90D-61FF-F2C5-7E4F-E29F146172A4}"/>
              </a:ext>
            </a:extLst>
          </p:cNvPr>
          <p:cNvCxnSpPr>
            <a:cxnSpLocks/>
          </p:cNvCxnSpPr>
          <p:nvPr/>
        </p:nvCxnSpPr>
        <p:spPr>
          <a:xfrm>
            <a:off x="10385997" y="4846395"/>
            <a:ext cx="585216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1D5D6DB-5837-3BD3-FD7A-E764D0007F5F}"/>
              </a:ext>
            </a:extLst>
          </p:cNvPr>
          <p:cNvCxnSpPr>
            <a:cxnSpLocks/>
          </p:cNvCxnSpPr>
          <p:nvPr/>
        </p:nvCxnSpPr>
        <p:spPr>
          <a:xfrm flipV="1">
            <a:off x="16050852" y="4995263"/>
            <a:ext cx="0" cy="3118639"/>
          </a:xfrm>
          <a:prstGeom prst="straightConnector1">
            <a:avLst/>
          </a:prstGeom>
          <a:ln>
            <a:solidFill>
              <a:srgbClr val="EE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A234848-4807-5BF5-629D-F0C78ADCADB8}"/>
              </a:ext>
            </a:extLst>
          </p:cNvPr>
          <p:cNvSpPr txBox="1"/>
          <p:nvPr/>
        </p:nvSpPr>
        <p:spPr>
          <a:xfrm>
            <a:off x="14874270" y="6288347"/>
            <a:ext cx="11764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Mismatch</a:t>
            </a:r>
            <a:endParaRPr lang="en-GB" sz="1200" dirty="0">
              <a:solidFill>
                <a:srgbClr val="EE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35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772" y="3429006"/>
            <a:ext cx="5575503" cy="418600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772" y="8015519"/>
            <a:ext cx="5575503" cy="41860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187" y="8015519"/>
            <a:ext cx="5575503" cy="418600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3187" y="3429006"/>
            <a:ext cx="5575503" cy="418600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229" y="3429006"/>
            <a:ext cx="5575503" cy="418600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228" y="8015519"/>
            <a:ext cx="5575503" cy="418600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A5122C-D21A-43BD-E14A-203193D0FCC3}"/>
              </a:ext>
            </a:extLst>
          </p:cNvPr>
          <p:cNvCxnSpPr/>
          <p:nvPr/>
        </p:nvCxnSpPr>
        <p:spPr>
          <a:xfrm>
            <a:off x="1923097" y="4728951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E72460C-2B0A-995A-027A-B08EE178B684}"/>
              </a:ext>
            </a:extLst>
          </p:cNvPr>
          <p:cNvSpPr txBox="1"/>
          <p:nvPr/>
        </p:nvSpPr>
        <p:spPr>
          <a:xfrm>
            <a:off x="1239705" y="4530641"/>
            <a:ext cx="736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Space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B092405-3C8C-B7EC-A6DD-BA4A5B56E31E}"/>
              </a:ext>
            </a:extLst>
          </p:cNvPr>
          <p:cNvCxnSpPr/>
          <p:nvPr/>
        </p:nvCxnSpPr>
        <p:spPr>
          <a:xfrm>
            <a:off x="1850309" y="6082352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CC8836D-0F6B-1707-FE74-BAC34044F81E}"/>
              </a:ext>
            </a:extLst>
          </p:cNvPr>
          <p:cNvSpPr txBox="1"/>
          <p:nvPr/>
        </p:nvSpPr>
        <p:spPr>
          <a:xfrm>
            <a:off x="1186122" y="5882024"/>
            <a:ext cx="736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EE80AC-1A30-BDB8-C3D5-69A0ED486AA2}"/>
              </a:ext>
            </a:extLst>
          </p:cNvPr>
          <p:cNvCxnSpPr/>
          <p:nvPr/>
        </p:nvCxnSpPr>
        <p:spPr>
          <a:xfrm>
            <a:off x="2371323" y="7185843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C1DBC05-6D67-BC19-643B-CEB41EAF326C}"/>
              </a:ext>
            </a:extLst>
          </p:cNvPr>
          <p:cNvSpPr txBox="1"/>
          <p:nvPr/>
        </p:nvSpPr>
        <p:spPr>
          <a:xfrm>
            <a:off x="1481275" y="6999162"/>
            <a:ext cx="9628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br>
              <a:rPr lang="en-US" sz="1200" dirty="0">
                <a:solidFill>
                  <a:srgbClr val="EE0000"/>
                </a:solidFill>
              </a:rPr>
            </a:br>
            <a:r>
              <a:rPr lang="en-US" sz="1200" dirty="0">
                <a:solidFill>
                  <a:srgbClr val="EE0000"/>
                </a:solidFill>
              </a:rPr>
              <a:t>Bigger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F2C84EC-48C5-0485-B407-E5A106B22D71}"/>
              </a:ext>
            </a:extLst>
          </p:cNvPr>
          <p:cNvCxnSpPr>
            <a:cxnSpLocks/>
          </p:cNvCxnSpPr>
          <p:nvPr/>
        </p:nvCxnSpPr>
        <p:spPr>
          <a:xfrm>
            <a:off x="1674127" y="3828197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2E9F67-D770-4C44-8C93-A8235F6C45D1}"/>
              </a:ext>
            </a:extLst>
          </p:cNvPr>
          <p:cNvCxnSpPr>
            <a:cxnSpLocks/>
          </p:cNvCxnSpPr>
          <p:nvPr/>
        </p:nvCxnSpPr>
        <p:spPr>
          <a:xfrm>
            <a:off x="1674127" y="7024049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BB6221-0EE7-7C3A-0D6D-4752B355FB03}"/>
              </a:ext>
            </a:extLst>
          </p:cNvPr>
          <p:cNvCxnSpPr>
            <a:cxnSpLocks/>
          </p:cNvCxnSpPr>
          <p:nvPr/>
        </p:nvCxnSpPr>
        <p:spPr>
          <a:xfrm flipV="1">
            <a:off x="16748684" y="3828203"/>
            <a:ext cx="0" cy="3195851"/>
          </a:xfrm>
          <a:prstGeom prst="straightConnector1">
            <a:avLst/>
          </a:prstGeom>
          <a:ln>
            <a:solidFill>
              <a:srgbClr val="EE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A293B86-02A8-F695-DAA1-68F510ADAAD2}"/>
              </a:ext>
            </a:extLst>
          </p:cNvPr>
          <p:cNvSpPr txBox="1"/>
          <p:nvPr/>
        </p:nvSpPr>
        <p:spPr>
          <a:xfrm>
            <a:off x="15572099" y="5198497"/>
            <a:ext cx="11764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Mismatch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4912EB7-304C-232C-C8E8-11460A444BA0}"/>
              </a:ext>
            </a:extLst>
          </p:cNvPr>
          <p:cNvCxnSpPr>
            <a:cxnSpLocks/>
          </p:cNvCxnSpPr>
          <p:nvPr/>
        </p:nvCxnSpPr>
        <p:spPr>
          <a:xfrm>
            <a:off x="1674127" y="3739493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C0975D5-3D33-A925-1B62-120063C4C8FF}"/>
              </a:ext>
            </a:extLst>
          </p:cNvPr>
          <p:cNvCxnSpPr>
            <a:cxnSpLocks/>
          </p:cNvCxnSpPr>
          <p:nvPr/>
        </p:nvCxnSpPr>
        <p:spPr>
          <a:xfrm flipV="1">
            <a:off x="3377815" y="4519101"/>
            <a:ext cx="0" cy="198315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7060204-33ED-4048-1DFB-8EB0C0C13F74}"/>
              </a:ext>
            </a:extLst>
          </p:cNvPr>
          <p:cNvSpPr txBox="1"/>
          <p:nvPr/>
        </p:nvSpPr>
        <p:spPr>
          <a:xfrm>
            <a:off x="2906182" y="4600991"/>
            <a:ext cx="1132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EE0000"/>
                </a:solidFill>
              </a:rPr>
              <a:t>Upto 2 Decimal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179DFE-3619-C5CD-57AC-179A67FBB484}"/>
              </a:ext>
            </a:extLst>
          </p:cNvPr>
          <p:cNvSpPr txBox="1"/>
          <p:nvPr/>
        </p:nvSpPr>
        <p:spPr>
          <a:xfrm>
            <a:off x="5334002" y="6553284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5EF4A7-14A6-12AA-83AF-AD747D5722E7}"/>
              </a:ext>
            </a:extLst>
          </p:cNvPr>
          <p:cNvSpPr txBox="1"/>
          <p:nvPr/>
        </p:nvSpPr>
        <p:spPr>
          <a:xfrm>
            <a:off x="5334002" y="1112520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4C6069-FFDA-0BDD-BAAD-C8BFA1735C43}"/>
              </a:ext>
            </a:extLst>
          </p:cNvPr>
          <p:cNvSpPr txBox="1"/>
          <p:nvPr/>
        </p:nvSpPr>
        <p:spPr>
          <a:xfrm>
            <a:off x="10268795" y="6553284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E1C5CE-B680-8637-71B4-801FE65BC768}"/>
              </a:ext>
            </a:extLst>
          </p:cNvPr>
          <p:cNvSpPr txBox="1"/>
          <p:nvPr/>
        </p:nvSpPr>
        <p:spPr>
          <a:xfrm>
            <a:off x="10268795" y="1112520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C91FD4-E3A0-81C7-FD76-966CD0FD330E}"/>
              </a:ext>
            </a:extLst>
          </p:cNvPr>
          <p:cNvSpPr txBox="1"/>
          <p:nvPr/>
        </p:nvSpPr>
        <p:spPr>
          <a:xfrm>
            <a:off x="15090610" y="6544181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3B895B-15A5-B826-B2BC-F73A3FD441D0}"/>
              </a:ext>
            </a:extLst>
          </p:cNvPr>
          <p:cNvSpPr txBox="1"/>
          <p:nvPr/>
        </p:nvSpPr>
        <p:spPr>
          <a:xfrm>
            <a:off x="15106651" y="11125206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1470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0DBD9-2BDC-0FCF-E5D2-46E81A948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46200B-E073-F60F-BCE7-4BE4B877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376" y="8989412"/>
            <a:ext cx="5575503" cy="4186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A67E18-7DA4-5ECC-9FD4-DE37D1FD8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616" y="4803412"/>
            <a:ext cx="5575503" cy="4186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EE21FC-3DB1-3371-A638-B909B71A0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40" y="4803412"/>
            <a:ext cx="5575503" cy="4186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C904F-1371-D647-2F66-68C210191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6616" y="617410"/>
            <a:ext cx="5575503" cy="41860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FAFD9E-9D4F-61A5-5D28-4E5BAE8CE9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0140" y="617410"/>
            <a:ext cx="5575503" cy="41860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B641F3-A553-15D1-6879-E02D718A9545}"/>
              </a:ext>
            </a:extLst>
          </p:cNvPr>
          <p:cNvSpPr txBox="1"/>
          <p:nvPr/>
        </p:nvSpPr>
        <p:spPr>
          <a:xfrm>
            <a:off x="8219835" y="3725617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EF3DA5-A004-FD80-AF0B-9D3FBC7271AE}"/>
              </a:ext>
            </a:extLst>
          </p:cNvPr>
          <p:cNvSpPr txBox="1"/>
          <p:nvPr/>
        </p:nvSpPr>
        <p:spPr>
          <a:xfrm>
            <a:off x="12839722" y="372561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9D466B-39C5-ED5C-AB23-3086FE90A9CE}"/>
              </a:ext>
            </a:extLst>
          </p:cNvPr>
          <p:cNvSpPr txBox="1"/>
          <p:nvPr/>
        </p:nvSpPr>
        <p:spPr>
          <a:xfrm>
            <a:off x="8219835" y="791161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16F049-E823-D3D7-3A17-AF2EA16E0434}"/>
              </a:ext>
            </a:extLst>
          </p:cNvPr>
          <p:cNvSpPr txBox="1"/>
          <p:nvPr/>
        </p:nvSpPr>
        <p:spPr>
          <a:xfrm>
            <a:off x="12839722" y="791161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88E4C9-B301-6453-A6F9-F92CCEC8AE36}"/>
              </a:ext>
            </a:extLst>
          </p:cNvPr>
          <p:cNvSpPr txBox="1"/>
          <p:nvPr/>
        </p:nvSpPr>
        <p:spPr>
          <a:xfrm>
            <a:off x="10537679" y="12106626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401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3060" y="8933425"/>
            <a:ext cx="5575503" cy="41860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299" y="4747425"/>
            <a:ext cx="5575503" cy="418600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23" y="4747425"/>
            <a:ext cx="5575503" cy="41860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1300" y="561423"/>
            <a:ext cx="5575503" cy="418600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824" y="561423"/>
            <a:ext cx="5575503" cy="418600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81AB15-A617-CA01-082B-BEFE44056A5C}"/>
              </a:ext>
            </a:extLst>
          </p:cNvPr>
          <p:cNvSpPr txBox="1"/>
          <p:nvPr/>
        </p:nvSpPr>
        <p:spPr>
          <a:xfrm>
            <a:off x="7646090" y="3669630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548658-B8C7-6148-87E4-4917A63DADE3}"/>
              </a:ext>
            </a:extLst>
          </p:cNvPr>
          <p:cNvSpPr txBox="1"/>
          <p:nvPr/>
        </p:nvSpPr>
        <p:spPr>
          <a:xfrm>
            <a:off x="12265975" y="3669628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7FD88-B6ED-796A-2F91-8CB22BC9E20F}"/>
              </a:ext>
            </a:extLst>
          </p:cNvPr>
          <p:cNvSpPr txBox="1"/>
          <p:nvPr/>
        </p:nvSpPr>
        <p:spPr>
          <a:xfrm>
            <a:off x="7646090" y="7855628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148F2F-3980-C482-E2C3-2645ED4BBF3A}"/>
              </a:ext>
            </a:extLst>
          </p:cNvPr>
          <p:cNvSpPr txBox="1"/>
          <p:nvPr/>
        </p:nvSpPr>
        <p:spPr>
          <a:xfrm>
            <a:off x="12265975" y="7855628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41BF6B-889E-7741-9D03-2BF9801B656F}"/>
              </a:ext>
            </a:extLst>
          </p:cNvPr>
          <p:cNvSpPr txBox="1"/>
          <p:nvPr/>
        </p:nvSpPr>
        <p:spPr>
          <a:xfrm>
            <a:off x="9963934" y="12050639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012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323" y="3894150"/>
            <a:ext cx="6471563" cy="418600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323" y="8306491"/>
            <a:ext cx="6471563" cy="41860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11" y="3894150"/>
            <a:ext cx="6471563" cy="418600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11" y="8306491"/>
            <a:ext cx="6471563" cy="41860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281512-250D-A261-B28C-E5DF497D9AAB}"/>
              </a:ext>
            </a:extLst>
          </p:cNvPr>
          <p:cNvSpPr txBox="1"/>
          <p:nvPr/>
        </p:nvSpPr>
        <p:spPr>
          <a:xfrm>
            <a:off x="3778178" y="43555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FC3FF4-ABE9-1D6C-787A-C18BCC35CCDB}"/>
              </a:ext>
            </a:extLst>
          </p:cNvPr>
          <p:cNvSpPr txBox="1"/>
          <p:nvPr/>
        </p:nvSpPr>
        <p:spPr>
          <a:xfrm>
            <a:off x="3778178" y="87751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883209-304D-7E6D-99CB-9475BAB8B997}"/>
              </a:ext>
            </a:extLst>
          </p:cNvPr>
          <p:cNvSpPr txBox="1"/>
          <p:nvPr/>
        </p:nvSpPr>
        <p:spPr>
          <a:xfrm>
            <a:off x="9685491" y="43555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10C535-3720-29D3-AC25-FAC56DAA4D1D}"/>
              </a:ext>
            </a:extLst>
          </p:cNvPr>
          <p:cNvSpPr txBox="1"/>
          <p:nvPr/>
        </p:nvSpPr>
        <p:spPr>
          <a:xfrm>
            <a:off x="9685491" y="87751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593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7973"/>
          <a:stretch/>
        </p:blipFill>
        <p:spPr>
          <a:xfrm>
            <a:off x="11858399" y="5580591"/>
            <a:ext cx="5131001" cy="418600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321"/>
          <a:stretch/>
        </p:blipFill>
        <p:spPr>
          <a:xfrm>
            <a:off x="7114248" y="5580591"/>
            <a:ext cx="5111551" cy="418600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592" y="5580591"/>
            <a:ext cx="5575503" cy="4186001"/>
          </a:xfrm>
          <a:prstGeom prst="rect">
            <a:avLst/>
          </a:prstGeom>
        </p:spPr>
      </p:pic>
      <p:pic>
        <p:nvPicPr>
          <p:cNvPr id="60" name="Picture 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3336" y="9696375"/>
            <a:ext cx="5575503" cy="4186001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655" y="9674371"/>
            <a:ext cx="5575503" cy="4186001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 rotWithShape="1">
          <a:blip r:embed="rId7"/>
          <a:srcRect l="8331"/>
          <a:stretch/>
        </p:blipFill>
        <p:spPr>
          <a:xfrm>
            <a:off x="11864954" y="1450791"/>
            <a:ext cx="5111045" cy="4186001"/>
          </a:xfrm>
          <a:prstGeom prst="rect">
            <a:avLst/>
          </a:prstGeom>
        </p:spPr>
      </p:pic>
      <p:pic>
        <p:nvPicPr>
          <p:cNvPr id="57" name="Picture 56"/>
          <p:cNvPicPr>
            <a:picLocks noChangeAspect="1"/>
          </p:cNvPicPr>
          <p:nvPr/>
        </p:nvPicPr>
        <p:blipFill rotWithShape="1">
          <a:blip r:embed="rId8"/>
          <a:srcRect l="8090"/>
          <a:stretch/>
        </p:blipFill>
        <p:spPr>
          <a:xfrm>
            <a:off x="7118790" y="1450791"/>
            <a:ext cx="5124437" cy="4186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9"/>
          <a:srcRect l="69959" t="13994" r="11961" b="63518"/>
          <a:stretch/>
        </p:blipFill>
        <p:spPr>
          <a:xfrm>
            <a:off x="16581081" y="2860879"/>
            <a:ext cx="1008063" cy="94138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10"/>
          <a:srcRect l="65632" t="13593" r="11989" b="67862"/>
          <a:stretch/>
        </p:blipFill>
        <p:spPr>
          <a:xfrm>
            <a:off x="16581079" y="6897307"/>
            <a:ext cx="1247775" cy="776289"/>
          </a:xfrm>
          <a:prstGeom prst="rect">
            <a:avLst/>
          </a:prstGeom>
        </p:spPr>
      </p:pic>
      <p:cxnSp>
        <p:nvCxnSpPr>
          <p:cNvPr id="3" name="Straight Connector 2"/>
          <p:cNvCxnSpPr/>
          <p:nvPr/>
        </p:nvCxnSpPr>
        <p:spPr>
          <a:xfrm flipV="1">
            <a:off x="12792151" y="10495440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2729899" y="10164214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3579552" y="1166473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517297" y="11333508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19" name="Straight Connector 18"/>
          <p:cNvCxnSpPr/>
          <p:nvPr/>
        </p:nvCxnSpPr>
        <p:spPr>
          <a:xfrm flipV="1">
            <a:off x="12030151" y="11174876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967899" y="10843651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11255452" y="11506109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93197" y="11174883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10490209" y="1203406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7955" y="1170283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7" name="Straight Connector 26"/>
          <p:cNvCxnSpPr/>
          <p:nvPr/>
        </p:nvCxnSpPr>
        <p:spPr>
          <a:xfrm flipV="1">
            <a:off x="15642406" y="7063355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5580145" y="6732128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9" name="Straight Connector 28"/>
          <p:cNvCxnSpPr/>
          <p:nvPr/>
        </p:nvCxnSpPr>
        <p:spPr>
          <a:xfrm flipV="1">
            <a:off x="14093006" y="6651512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088794" y="6320287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13318307" y="6839943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3256048" y="650871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3" name="Straight Connector 32"/>
          <p:cNvCxnSpPr/>
          <p:nvPr/>
        </p:nvCxnSpPr>
        <p:spPr>
          <a:xfrm flipV="1">
            <a:off x="12553063" y="7073459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2490805" y="6742231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5" name="Straight Connector 34"/>
          <p:cNvCxnSpPr/>
          <p:nvPr/>
        </p:nvCxnSpPr>
        <p:spPr>
          <a:xfrm flipV="1">
            <a:off x="6144685" y="711994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118976" y="6809316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5384285" y="7169984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22032" y="683875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854992" y="7059564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868028" y="6728338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046207" y="6511649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83953" y="6180423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43" name="Straight Connector 42"/>
          <p:cNvCxnSpPr/>
          <p:nvPr/>
        </p:nvCxnSpPr>
        <p:spPr>
          <a:xfrm flipV="1">
            <a:off x="10859435" y="7332447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833716" y="7021819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10108171" y="7246203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045911" y="6914976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47" name="Straight Connector 46"/>
          <p:cNvCxnSpPr/>
          <p:nvPr/>
        </p:nvCxnSpPr>
        <p:spPr>
          <a:xfrm flipV="1">
            <a:off x="8535334" y="7324467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473076" y="6993240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8644" y="1452975"/>
            <a:ext cx="5575503" cy="4186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6065C3-FD9D-F159-B054-F9B9CDF080BB}"/>
              </a:ext>
            </a:extLst>
          </p:cNvPr>
          <p:cNvSpPr txBox="1"/>
          <p:nvPr/>
        </p:nvSpPr>
        <p:spPr>
          <a:xfrm>
            <a:off x="2549851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52CDA-50B0-B8B0-9161-3639775F4944}"/>
              </a:ext>
            </a:extLst>
          </p:cNvPr>
          <p:cNvSpPr txBox="1"/>
          <p:nvPr/>
        </p:nvSpPr>
        <p:spPr>
          <a:xfrm>
            <a:off x="7270915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42E4EF-7719-283C-0781-1D389E00601E}"/>
              </a:ext>
            </a:extLst>
          </p:cNvPr>
          <p:cNvSpPr txBox="1"/>
          <p:nvPr/>
        </p:nvSpPr>
        <p:spPr>
          <a:xfrm>
            <a:off x="12000123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997994-3F31-B54C-5500-C5C9CBEA8ACC}"/>
              </a:ext>
            </a:extLst>
          </p:cNvPr>
          <p:cNvSpPr txBox="1"/>
          <p:nvPr/>
        </p:nvSpPr>
        <p:spPr>
          <a:xfrm>
            <a:off x="2548055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F95430-DEBA-C7ED-0E1D-77E543D97B9B}"/>
              </a:ext>
            </a:extLst>
          </p:cNvPr>
          <p:cNvSpPr txBox="1"/>
          <p:nvPr/>
        </p:nvSpPr>
        <p:spPr>
          <a:xfrm>
            <a:off x="7269121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B719AF-79F0-215C-5264-465362D8B7B2}"/>
              </a:ext>
            </a:extLst>
          </p:cNvPr>
          <p:cNvSpPr txBox="1"/>
          <p:nvPr/>
        </p:nvSpPr>
        <p:spPr>
          <a:xfrm>
            <a:off x="11998330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405D2B-DEA5-5FFE-ECC1-86C61E71707E}"/>
              </a:ext>
            </a:extLst>
          </p:cNvPr>
          <p:cNvSpPr txBox="1"/>
          <p:nvPr/>
        </p:nvSpPr>
        <p:spPr>
          <a:xfrm>
            <a:off x="8296642" y="10072253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(g)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CDD812-0F22-F5E6-BB2B-35CFA5506A6B}"/>
              </a:ext>
            </a:extLst>
          </p:cNvPr>
          <p:cNvSpPr txBox="1"/>
          <p:nvPr/>
        </p:nvSpPr>
        <p:spPr>
          <a:xfrm>
            <a:off x="13874959" y="10072253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(h)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386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4" y="4447500"/>
            <a:ext cx="5846045" cy="43891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408" y="4447500"/>
            <a:ext cx="5846045" cy="43891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4660" y="4447500"/>
            <a:ext cx="5846045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EAE48B9-7DD6-AF4F-64F3-CD6D8C6A0689}"/>
              </a:ext>
            </a:extLst>
          </p:cNvPr>
          <p:cNvSpPr txBox="1"/>
          <p:nvPr/>
        </p:nvSpPr>
        <p:spPr>
          <a:xfrm>
            <a:off x="1406851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50EB3-F724-F5FE-A4F0-4DE179F8D923}"/>
              </a:ext>
            </a:extLst>
          </p:cNvPr>
          <p:cNvSpPr txBox="1"/>
          <p:nvPr/>
        </p:nvSpPr>
        <p:spPr>
          <a:xfrm>
            <a:off x="6713011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FBA634-5D03-0A0E-4998-DB3D37132AEF}"/>
              </a:ext>
            </a:extLst>
          </p:cNvPr>
          <p:cNvSpPr txBox="1"/>
          <p:nvPr/>
        </p:nvSpPr>
        <p:spPr>
          <a:xfrm>
            <a:off x="12019174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069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560576"/>
              </p:ext>
            </p:extLst>
          </p:nvPr>
        </p:nvGraphicFramePr>
        <p:xfrm>
          <a:off x="1063407" y="5253310"/>
          <a:ext cx="15138782" cy="1915367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238752">
                  <a:extLst>
                    <a:ext uri="{9D8B030D-6E8A-4147-A177-3AD203B41FA5}">
                      <a16:colId xmlns:a16="http://schemas.microsoft.com/office/drawing/2014/main" val="347141911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9927504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529611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078892055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494853838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113317583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52800013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932834440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3478743809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74252025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8857956"/>
                    </a:ext>
                  </a:extLst>
                </a:gridCol>
              </a:tblGrid>
              <a:tr h="432003">
                <a:tc>
                  <a:txBody>
                    <a:bodyPr/>
                    <a:lstStyle/>
                    <a:p>
                      <a:r>
                        <a:rPr lang="en-GB" sz="1500" dirty="0">
                          <a:solidFill>
                            <a:schemeClr val="tx1"/>
                          </a:solidFill>
                        </a:rPr>
                        <a:t>Flicker Stimulation </a:t>
                      </a:r>
                      <a:r>
                        <a:rPr lang="en-AT" sz="1500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GB" sz="1500" dirty="0">
                          <a:solidFill>
                            <a:schemeClr val="tx1"/>
                          </a:solidFill>
                        </a:rPr>
                        <a:t> Change</a:t>
                      </a:r>
                      <a:r>
                        <a:rPr lang="en-GB" sz="1500" baseline="0" dirty="0">
                          <a:solidFill>
                            <a:schemeClr val="tx1"/>
                          </a:solidFill>
                        </a:rPr>
                        <a:t> in Diameter</a:t>
                      </a:r>
                      <a:endParaRPr 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91443" marR="91443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1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2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0070C0"/>
                          </a:solidFill>
                        </a:rPr>
                        <a:t>Vessel 3</a:t>
                      </a:r>
                      <a:endParaRPr lang="en-US" sz="1500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4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0070C0"/>
                          </a:solidFill>
                        </a:rPr>
                        <a:t>Vessel 5</a:t>
                      </a:r>
                      <a:endParaRPr lang="en-US" sz="1500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270807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Gaussian Model Diameter 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9.6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0.0019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1.5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0.59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28.5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0.0008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1743181393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Generalized Gaussian Model Diameter 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1.5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0.28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-0.6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0.79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28.4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3.1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0.0034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3744965214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 err="1"/>
                        <a:t>Binarized</a:t>
                      </a:r>
                      <a:r>
                        <a:rPr lang="en-GB" sz="1500" baseline="0" dirty="0"/>
                        <a:t> Angiogram Diameter </a:t>
                      </a:r>
                      <a:r>
                        <a:rPr lang="en-GB" sz="1500" dirty="0"/>
                        <a:t>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-12.5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-10.2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/>
                        <a:t>-4.2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0.0011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1.0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0.404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-9.3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244911185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Angiogram</a:t>
                      </a:r>
                      <a:r>
                        <a:rPr lang="en-GB" sz="1500" baseline="0" dirty="0"/>
                        <a:t> Intensity </a:t>
                      </a:r>
                      <a:r>
                        <a:rPr lang="en-GB" sz="1500" dirty="0"/>
                        <a:t>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-14.1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-18.2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-14.3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-19.9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-16.3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4210632644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055914"/>
              </p:ext>
            </p:extLst>
          </p:nvPr>
        </p:nvGraphicFramePr>
        <p:xfrm>
          <a:off x="1063407" y="7640849"/>
          <a:ext cx="15138782" cy="1544526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238752">
                  <a:extLst>
                    <a:ext uri="{9D8B030D-6E8A-4147-A177-3AD203B41FA5}">
                      <a16:colId xmlns:a16="http://schemas.microsoft.com/office/drawing/2014/main" val="347141911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9927504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529611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078892055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494853838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113317583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52800013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932834440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3478743809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74252025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8857956"/>
                    </a:ext>
                  </a:extLst>
                </a:gridCol>
              </a:tblGrid>
              <a:tr h="432003">
                <a:tc>
                  <a:txBody>
                    <a:bodyPr/>
                    <a:lstStyle/>
                    <a:p>
                      <a:r>
                        <a:rPr lang="en-GB" sz="1500" b="1" dirty="0">
                          <a:solidFill>
                            <a:schemeClr val="tx1"/>
                          </a:solidFill>
                        </a:rPr>
                        <a:t>Flicker Stimulation </a:t>
                      </a:r>
                      <a:r>
                        <a:rPr lang="en-AT" sz="150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GB" sz="1500" b="1" baseline="0" dirty="0">
                          <a:solidFill>
                            <a:schemeClr val="tx1"/>
                          </a:solidFill>
                        </a:rPr>
                        <a:t> Correlation to Intensity</a:t>
                      </a:r>
                      <a:endParaRPr lang="en-US" sz="1500" b="1" dirty="0">
                        <a:solidFill>
                          <a:schemeClr val="tx1"/>
                        </a:solidFill>
                      </a:endParaRPr>
                    </a:p>
                  </a:txBody>
                  <a:tcPr marL="91443" marR="91443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1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2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0070C0"/>
                          </a:solidFill>
                        </a:rPr>
                        <a:t>Vessel 3</a:t>
                      </a:r>
                      <a:endParaRPr lang="en-US" sz="15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4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0070C0"/>
                          </a:solidFill>
                        </a:rPr>
                        <a:t>Vessel 5</a:t>
                      </a:r>
                      <a:endParaRPr lang="en-US" sz="15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270807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b="0" dirty="0"/>
                        <a:t>Gaussian Model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-0.07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0.48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0.23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0.019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-0.28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0.0044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0.14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-0.24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0.018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1743181393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0" dirty="0"/>
                        <a:t>Generalized Gaussian Model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0.03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0.79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0.07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0.47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</a:t>
                      </a:r>
                      <a:r>
                        <a:rPr lang="en-GB" sz="1500" b="1" dirty="0"/>
                        <a:t>0.28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0.0056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0.16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-0.18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0.081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3744965214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0" dirty="0" err="1"/>
                        <a:t>Binarized</a:t>
                      </a:r>
                      <a:r>
                        <a:rPr lang="en-GB" sz="1500" b="0" baseline="0" dirty="0"/>
                        <a:t> Angiogram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0.59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0.80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0.27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0.0077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0.46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0.52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24491118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200407" y="9185367"/>
            <a:ext cx="1925848" cy="12021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Overall correlation</a:t>
            </a:r>
          </a:p>
          <a:p>
            <a:r>
              <a:rPr lang="en-GB" sz="1803" dirty="0"/>
              <a:t>Gaussian = -0.101</a:t>
            </a:r>
          </a:p>
          <a:p>
            <a:r>
              <a:rPr lang="en-GB" sz="1803" dirty="0"/>
              <a:t>GG = -0.098</a:t>
            </a:r>
          </a:p>
          <a:p>
            <a:r>
              <a:rPr lang="en-GB" sz="1803" dirty="0"/>
              <a:t>BW = 0.523</a:t>
            </a:r>
            <a:endParaRPr lang="en-US" sz="1803" dirty="0"/>
          </a:p>
        </p:txBody>
      </p:sp>
    </p:spTree>
    <p:extLst>
      <p:ext uri="{BB962C8B-B14F-4D97-AF65-F5344CB8AC3E}">
        <p14:creationId xmlns:p14="http://schemas.microsoft.com/office/powerpoint/2010/main" val="69948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432</Words>
  <Application>Microsoft Office PowerPoint</Application>
  <PresentationFormat>Custom</PresentationFormat>
  <Paragraphs>183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Merkle</dc:creator>
  <cp:lastModifiedBy>Yash Patel</cp:lastModifiedBy>
  <cp:revision>134</cp:revision>
  <dcterms:created xsi:type="dcterms:W3CDTF">2025-07-31T11:48:14Z</dcterms:created>
  <dcterms:modified xsi:type="dcterms:W3CDTF">2026-04-10T13:07:37Z</dcterms:modified>
</cp:coreProperties>
</file>